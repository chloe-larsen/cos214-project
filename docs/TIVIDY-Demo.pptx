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8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(0:00-0:45). Introduce the team and the one-line pitch: one engine, two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 Workflows are everywhere but every industry rewrites them. Our answer is one reusable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(to 4:00). Walk the flow left to right, then the four ideas below it. Stress definition vs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(4:00-6:00). Introduce aviation. Replace the five steps with the exact steps in your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(6:00-12:00). SWITCH TO THE LIVE TUI. Start an instance, show tasks unlocking, take the pass and fail decisions, then show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(12:00-14:00). Same layout as the aviation slide on purpose. Replace the steps with your implemented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(14:00-20:00). SWITCH TO THE LIVE TUI. Same engine, different definition. Show quality pass and fail, an exception, then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(start of 20:00-25:00 block). The key slide: only data and rules differ, the engine classes are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9. Do not list names. Pick two or three collaborations (e.g. Prototype + Composite, State, Observer) and explain them. Confirm the list matches the final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10. One readable diagram only. Swap the placeholder for your exported state diagram (or another) and make sure it matches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11. Show the real test run. Say which framework, what each member tested, and that results are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(25:00-30:00). Three takeaways, then open for questions and code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 slide required by the Slidesgo licence. Keep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2E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292608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tividy.engine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demo.cpp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91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868680" y="4754880"/>
            <a:ext cx="5486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TIVIDY  |  COS 214  |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3840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6903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9966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3030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609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9156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2219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5283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1409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4472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7536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0599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3662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TIVIDY 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143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2800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Management System</a:t>
            </a:r>
            <a:r>
              <a:rPr lang="en-US" sz="28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1965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One Engine. Two Industries. Connected Workflows. &gt;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756229" y="2628901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Caleb Jennings (25173805) 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r>
              <a:rPr lang="en-US" sz="1200" dirty="0" err="1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Anchen</a:t>
            </a:r>
            <a:r>
              <a:rPr lang="en-US" sz="12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Kruger (25073703)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Chloe Larsen (25004141) </a:t>
            </a: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Caitlin Moodley (25128443)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Shanna Reinecke (25008260)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3703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 214  ·  2026  ·  Aviation + Manufacturing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</a:t>
            </a:r>
            <a:r>
              <a:rPr lang="en-US" sz="26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'TIVIDY?'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1430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 mix tasks, people, decisions and dependencies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industry has its own process, rules and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hard-coded program per industry duplicates effort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TIVIDY: one engine that runs any workflow definition</a:t>
            </a:r>
            <a:endParaRPr lang="en-US" sz="1400" dirty="0"/>
          </a:p>
        </p:txBody>
      </p:sp>
      <p:sp>
        <p:nvSpPr>
          <p:cNvPr id="5" name="box"/>
          <p:cNvSpPr/>
          <p:nvPr/>
        </p:nvSpPr>
        <p:spPr>
          <a:xfrm>
            <a:off x="5074920" y="1417320"/>
            <a:ext cx="1463040" cy="685800"/>
          </a:xfrm>
          <a:prstGeom prst="rect">
            <a:avLst/>
          </a:prstGeom>
          <a:solidFill>
            <a:srgbClr val="16191F"/>
          </a:solidFill>
          <a:ln w="12700">
            <a:solidFill>
              <a:srgbClr val="72D9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Aviation process</a:t>
            </a:r>
            <a:endParaRPr lang="en-US" sz="1300" dirty="0"/>
          </a:p>
        </p:txBody>
      </p:sp>
      <p:sp>
        <p:nvSpPr>
          <p:cNvPr id="6" name="box"/>
          <p:cNvSpPr/>
          <p:nvPr/>
        </p:nvSpPr>
        <p:spPr>
          <a:xfrm>
            <a:off x="5074920" y="2514600"/>
            <a:ext cx="1463040" cy="68580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Manufacturing process</a:t>
            </a:r>
            <a:endParaRPr lang="en-US" sz="1300" dirty="0"/>
          </a:p>
        </p:txBody>
      </p:sp>
      <p:sp>
        <p:nvSpPr>
          <p:cNvPr id="7" name="box"/>
          <p:cNvSpPr/>
          <p:nvPr/>
        </p:nvSpPr>
        <p:spPr>
          <a:xfrm>
            <a:off x="7269480" y="1417320"/>
            <a:ext cx="1463040" cy="1783080"/>
          </a:xfrm>
          <a:prstGeom prst="rect">
            <a:avLst/>
          </a:prstGeom>
          <a:solidFill>
            <a:srgbClr val="16191F"/>
          </a:solidFill>
          <a:ln w="12700">
            <a:solidFill>
              <a:srgbClr val="A5CF2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TIVIDY Workflow Engine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37960" y="1760220"/>
            <a:ext cx="731520" cy="251460"/>
          </a:xfrm>
          <a:prstGeom prst="line">
            <a:avLst/>
          </a:prstGeom>
          <a:noFill/>
          <a:ln w="19050">
            <a:solidFill>
              <a:srgbClr val="72D9F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 flipV="1">
            <a:off x="6537960" y="2651760"/>
            <a:ext cx="731520" cy="205740"/>
          </a:xfrm>
          <a:prstGeom prst="line">
            <a:avLst/>
          </a:prstGeom>
          <a:noFill/>
          <a:ln w="19050">
            <a:solidFill>
              <a:srgbClr val="FCC642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 txBox="1"/>
          <p:nvPr/>
        </p:nvSpPr>
        <p:spPr>
          <a:xfrm>
            <a:off x="50749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shared engine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</a:t>
            </a:r>
            <a:r>
              <a:rPr lang="en-US" sz="26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'Works'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600" dirty="0"/>
          </a:p>
        </p:txBody>
      </p:sp>
      <p:sp>
        <p:nvSpPr>
          <p:cNvPr id="4" name="box"/>
          <p:cNvSpPr/>
          <p:nvPr/>
        </p:nvSpPr>
        <p:spPr>
          <a:xfrm>
            <a:off x="868680" y="1051560"/>
            <a:ext cx="1737360" cy="685800"/>
          </a:xfrm>
          <a:prstGeom prst="rect">
            <a:avLst/>
          </a:prstGeom>
          <a:solidFill>
            <a:srgbClr val="16191F"/>
          </a:solidFill>
          <a:ln w="12700">
            <a:solidFill>
              <a:srgbClr val="DBA0D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Workflow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606040" y="1394460"/>
            <a:ext cx="301752" cy="0"/>
          </a:xfrm>
          <a:prstGeom prst="line">
            <a:avLst/>
          </a:prstGeom>
          <a:noFill/>
          <a:ln w="19050">
            <a:solidFill>
              <a:srgbClr val="70707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6" name="box"/>
          <p:cNvSpPr/>
          <p:nvPr/>
        </p:nvSpPr>
        <p:spPr>
          <a:xfrm>
            <a:off x="2907792" y="1051560"/>
            <a:ext cx="1737360" cy="685800"/>
          </a:xfrm>
          <a:prstGeom prst="rect">
            <a:avLst/>
          </a:prstGeom>
          <a:solidFill>
            <a:srgbClr val="16191F"/>
          </a:solidFill>
          <a:ln w="12700">
            <a:solidFill>
              <a:srgbClr val="72D9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 Execution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45152" y="1394460"/>
            <a:ext cx="301752" cy="0"/>
          </a:xfrm>
          <a:prstGeom prst="line">
            <a:avLst/>
          </a:prstGeom>
          <a:noFill/>
          <a:ln w="19050">
            <a:solidFill>
              <a:srgbClr val="70707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8" name="box"/>
          <p:cNvSpPr/>
          <p:nvPr/>
        </p:nvSpPr>
        <p:spPr>
          <a:xfrm>
            <a:off x="4946904" y="1051560"/>
            <a:ext cx="1737360" cy="68580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Work Items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84264" y="1394460"/>
            <a:ext cx="301752" cy="0"/>
          </a:xfrm>
          <a:prstGeom prst="line">
            <a:avLst/>
          </a:prstGeom>
          <a:noFill/>
          <a:ln w="19050">
            <a:solidFill>
              <a:srgbClr val="70707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box"/>
          <p:cNvSpPr/>
          <p:nvPr/>
        </p:nvSpPr>
        <p:spPr>
          <a:xfrm>
            <a:off x="6986016" y="1051560"/>
            <a:ext cx="1737360" cy="685800"/>
          </a:xfrm>
          <a:prstGeom prst="rect">
            <a:avLst/>
          </a:prstGeom>
          <a:solidFill>
            <a:srgbClr val="16191F"/>
          </a:solidFill>
          <a:ln w="12700">
            <a:solidFill>
              <a:srgbClr val="A5CF2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 / Exception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01168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Creation: </a:t>
            </a: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 methods create work items and groups.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400" dirty="0">
              <a:solidFill>
                <a:srgbClr val="E7E7E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Management: </a:t>
            </a:r>
            <a:r>
              <a:rPr lang="en-US" sz="1400" dirty="0" err="1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WorkflowManager</a:t>
            </a: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coordinates workflow actions and execution.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and states: </a:t>
            </a: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become available when prerequisites are satisfied and follow valid lifecycle transitions.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and history: </a:t>
            </a: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Strategies control assignment and routing, while observers respond to events and record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 1 </a:t>
            </a:r>
            <a:r>
              <a:rPr lang="en-US" sz="2600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Aviation }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051560"/>
            <a:ext cx="7863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Aircraft Maintenance Dispatch: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 maintenance and confirm an aircraft is safe to dispatch.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Participants: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 control, technicians, inspectors, dispatch.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aircraft ID, reported defect, priority, dispatch deadline.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Outcome: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cleared for dispatch, or held pending corrective action.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400" dirty="0"/>
          </a:p>
        </p:txBody>
      </p:sp>
      <p:sp>
        <p:nvSpPr>
          <p:cNvPr id="6" name="box"/>
          <p:cNvSpPr/>
          <p:nvPr/>
        </p:nvSpPr>
        <p:spPr>
          <a:xfrm>
            <a:off x="8686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72D9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40280" y="4183380"/>
            <a:ext cx="228600" cy="0"/>
          </a:xfrm>
          <a:prstGeom prst="line">
            <a:avLst/>
          </a:prstGeom>
          <a:noFill/>
          <a:ln w="19050">
            <a:solidFill>
              <a:srgbClr val="72D9F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8" name="box"/>
          <p:cNvSpPr/>
          <p:nvPr/>
        </p:nvSpPr>
        <p:spPr>
          <a:xfrm>
            <a:off x="24688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72D9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0" y="4183380"/>
            <a:ext cx="228600" cy="0"/>
          </a:xfrm>
          <a:prstGeom prst="line">
            <a:avLst/>
          </a:prstGeom>
          <a:noFill/>
          <a:ln w="19050">
            <a:solidFill>
              <a:srgbClr val="72D9F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box"/>
          <p:cNvSpPr/>
          <p:nvPr/>
        </p:nvSpPr>
        <p:spPr>
          <a:xfrm>
            <a:off x="40690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72D9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40680" y="4183380"/>
            <a:ext cx="228600" cy="0"/>
          </a:xfrm>
          <a:prstGeom prst="line">
            <a:avLst/>
          </a:prstGeom>
          <a:noFill/>
          <a:ln w="19050">
            <a:solidFill>
              <a:srgbClr val="72D9F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2" name="box"/>
          <p:cNvSpPr/>
          <p:nvPr/>
        </p:nvSpPr>
        <p:spPr>
          <a:xfrm>
            <a:off x="56692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72D9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040880" y="4183380"/>
            <a:ext cx="228600" cy="0"/>
          </a:xfrm>
          <a:prstGeom prst="line">
            <a:avLst/>
          </a:prstGeom>
          <a:noFill/>
          <a:ln w="19050">
            <a:solidFill>
              <a:srgbClr val="72D9F0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4" name="box"/>
          <p:cNvSpPr/>
          <p:nvPr/>
        </p:nvSpPr>
        <p:spPr>
          <a:xfrm>
            <a:off x="72694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72D9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 decision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</a:t>
            </a:r>
            <a:r>
              <a:rPr lang="en-US" sz="2600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Aviation }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05156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a maintenance instance </a:t>
            </a:r>
            <a:r>
              <a:rPr lang="en-US" sz="16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[aircraft ID, defect]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unlock as dependencies complete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inspection passed or failed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path: </a:t>
            </a:r>
            <a:r>
              <a:rPr lang="en-US" sz="16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[rejection / escalation]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execution history</a:t>
            </a:r>
            <a:endParaRPr lang="en-US" sz="1600" dirty="0"/>
          </a:p>
        </p:txBody>
      </p:sp>
      <p:sp>
        <p:nvSpPr>
          <p:cNvPr id="5" name="placeholder"/>
          <p:cNvSpPr/>
          <p:nvPr/>
        </p:nvSpPr>
        <p:spPr>
          <a:xfrm>
            <a:off x="5257800" y="1097280"/>
            <a:ext cx="3474720" cy="32918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  <a:prstDash val="dash"/>
          </a:ln>
        </p:spPr>
        <p:txBody>
          <a:bodyPr wrap="square" lIns="4445" tIns="4445" rIns="4445" bIns="4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 of the TUI running the aviation workflow 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 2 </a:t>
            </a:r>
            <a:r>
              <a:rPr lang="en-US" sz="26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Manufacturing }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051560"/>
            <a:ext cx="7863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Order: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 production of a specified product or batch.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Participants: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planner, warehouse, production team, quality inspector.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number, product, quantity, materials, due date.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Outcome: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 quality-checked order, or an order held for an issue.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400" dirty="0"/>
          </a:p>
        </p:txBody>
      </p:sp>
      <p:sp>
        <p:nvSpPr>
          <p:cNvPr id="6" name="box"/>
          <p:cNvSpPr/>
          <p:nvPr/>
        </p:nvSpPr>
        <p:spPr>
          <a:xfrm>
            <a:off x="8686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40280" y="4183380"/>
            <a:ext cx="228600" cy="0"/>
          </a:xfrm>
          <a:prstGeom prst="line">
            <a:avLst/>
          </a:prstGeom>
          <a:noFill/>
          <a:ln w="19050">
            <a:solidFill>
              <a:srgbClr val="FCC642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8" name="box"/>
          <p:cNvSpPr/>
          <p:nvPr/>
        </p:nvSpPr>
        <p:spPr>
          <a:xfrm>
            <a:off x="24688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40480" y="4183380"/>
            <a:ext cx="228600" cy="0"/>
          </a:xfrm>
          <a:prstGeom prst="line">
            <a:avLst/>
          </a:prstGeom>
          <a:noFill/>
          <a:ln w="19050">
            <a:solidFill>
              <a:srgbClr val="FCC642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box"/>
          <p:cNvSpPr/>
          <p:nvPr/>
        </p:nvSpPr>
        <p:spPr>
          <a:xfrm>
            <a:off x="40690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40680" y="4183380"/>
            <a:ext cx="228600" cy="0"/>
          </a:xfrm>
          <a:prstGeom prst="line">
            <a:avLst/>
          </a:prstGeom>
          <a:noFill/>
          <a:ln w="19050">
            <a:solidFill>
              <a:srgbClr val="FCC642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2" name="box"/>
          <p:cNvSpPr/>
          <p:nvPr/>
        </p:nvSpPr>
        <p:spPr>
          <a:xfrm>
            <a:off x="56692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check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040880" y="4183380"/>
            <a:ext cx="228600" cy="0"/>
          </a:xfrm>
          <a:prstGeom prst="line">
            <a:avLst/>
          </a:prstGeom>
          <a:noFill/>
          <a:ln w="19050">
            <a:solidFill>
              <a:srgbClr val="FCC642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4" name="box"/>
          <p:cNvSpPr/>
          <p:nvPr/>
        </p:nvSpPr>
        <p:spPr>
          <a:xfrm>
            <a:off x="7269480" y="3794760"/>
            <a:ext cx="1371600" cy="7772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 decision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</a:t>
            </a:r>
            <a:r>
              <a:rPr lang="en-US" sz="26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Manufacturing }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05156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a production-order instance </a:t>
            </a:r>
            <a:r>
              <a:rPr lang="en-US" sz="16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[order no., qty]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 and production tasks unlock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branch: quality pass or fail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Exception: </a:t>
            </a:r>
            <a:r>
              <a:rPr lang="en-US" sz="16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[shortage / escalation]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</a:t>
            </a: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 execution history</a:t>
            </a:r>
            <a:endParaRPr lang="en-US" sz="1600" dirty="0"/>
          </a:p>
        </p:txBody>
      </p:sp>
      <p:sp>
        <p:nvSpPr>
          <p:cNvPr id="5" name="placeholder"/>
          <p:cNvSpPr/>
          <p:nvPr/>
        </p:nvSpPr>
        <p:spPr>
          <a:xfrm>
            <a:off x="5257800" y="1097280"/>
            <a:ext cx="3474720" cy="32918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  <a:prstDash val="dash"/>
          </a:ln>
        </p:spPr>
        <p:txBody>
          <a:bodyPr wrap="square" lIns="4445" tIns="4445" rIns="4445" bIns="4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 of the TUI running the manufacturing workflow 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Engine, </a:t>
            </a:r>
            <a:r>
              <a:rPr lang="en-US" sz="26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'Two Industries'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Aviation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13716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 tasks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 decisions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Aircraft-specific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Dispatch-ready outcome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006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00600" y="13716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tasks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decisions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and material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Completed-order outcome</a:t>
            </a:r>
            <a:endParaRPr lang="en-US" sz="1400" dirty="0"/>
          </a:p>
        </p:txBody>
      </p:sp>
      <p:sp>
        <p:nvSpPr>
          <p:cNvPr id="8" name="box"/>
          <p:cNvSpPr/>
          <p:nvPr/>
        </p:nvSpPr>
        <p:spPr>
          <a:xfrm>
            <a:off x="868680" y="2880360"/>
            <a:ext cx="7863840" cy="457200"/>
          </a:xfrm>
          <a:prstGeom prst="rect">
            <a:avLst/>
          </a:prstGeom>
          <a:solidFill>
            <a:srgbClr val="16191F"/>
          </a:solidFill>
          <a:ln w="12700">
            <a:solidFill>
              <a:srgbClr val="A5CF2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TIVIDY Workflow Engine (shared, unmodified)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74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Reused: </a:t>
            </a: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WorkComponent, Item, ItemGroup, State, Observers, Strategies, Command, WorkflowManager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Differs: </a:t>
            </a: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blueprints, participants, routing rules, decision conditions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</a:t>
            </a:r>
            <a:r>
              <a:rPr lang="en-US" sz="26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'GoF Patterns'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868680" y="1051560"/>
            <a:ext cx="2468880" cy="3520440"/>
          </a:xfrm>
          <a:prstGeom prst="rect">
            <a:avLst/>
          </a:prstGeom>
          <a:solidFill>
            <a:srgbClr val="16191F"/>
          </a:solidFill>
          <a:ln w="12700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 txBox="1"/>
          <p:nvPr/>
        </p:nvSpPr>
        <p:spPr>
          <a:xfrm>
            <a:off x="100584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+ structure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55448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 Method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makes items, groups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clones blueprint per instance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and groups alike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566160" y="1051560"/>
            <a:ext cx="2468880" cy="3520440"/>
          </a:xfrm>
          <a:prstGeom prst="rect">
            <a:avLst/>
          </a:prstGeom>
          <a:solidFill>
            <a:srgbClr val="16191F"/>
          </a:solidFill>
          <a:ln w="12700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 txBox="1"/>
          <p:nvPr/>
        </p:nvSpPr>
        <p:spPr>
          <a:xfrm>
            <a:off x="370332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 behaviour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703320" y="155448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lifecycle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 and undo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dependencies, audit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assignment, routing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Iterator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traverses the tree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263640" y="1051560"/>
            <a:ext cx="2468880" cy="3520440"/>
          </a:xfrm>
          <a:prstGeom prst="rect">
            <a:avLst/>
          </a:prstGeom>
          <a:solidFill>
            <a:srgbClr val="16191F"/>
          </a:solidFill>
          <a:ln w="12700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 txBox="1"/>
          <p:nvPr/>
        </p:nvSpPr>
        <p:spPr>
          <a:xfrm>
            <a:off x="640080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+ route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155448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email service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of Resp.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 escalation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UML Design </a:t>
            </a:r>
            <a:r>
              <a:rPr lang="en-US" sz="26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'&amp; Decisions'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051560"/>
            <a:ext cx="3931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Shows: </a:t>
            </a: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Item lifecycle: Created, Available, InProgress, Completed, Blocked, Cancelled.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as: </a:t>
            </a: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state is a State class; invalid actions are rejected there.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</a:t>
            </a:r>
            <a:r>
              <a:rPr lang="en-US" sz="14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 WorkflowInstance, WorkflowDefinition and CommandInvoker into WorkflowManager.</a:t>
            </a:r>
            <a:endParaRPr lang="en-US" sz="1400" dirty="0"/>
          </a:p>
        </p:txBody>
      </p:sp>
      <p:sp>
        <p:nvSpPr>
          <p:cNvPr id="5" name="placeholder"/>
          <p:cNvSpPr/>
          <p:nvPr/>
        </p:nvSpPr>
        <p:spPr>
          <a:xfrm>
            <a:off x="5074920" y="1097280"/>
            <a:ext cx="3657600" cy="32918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  <a:prstDash val="dash"/>
          </a:ln>
        </p:spPr>
        <p:txBody>
          <a:bodyPr wrap="square" lIns="4445" tIns="4445" rIns="4445" bIns="4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Insert exported UML diagram (readable, one only) 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</a:t>
            </a:r>
            <a:r>
              <a:rPr lang="en-US" sz="26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'&amp; Reliability'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051560"/>
            <a:ext cx="4023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Framework: </a:t>
            </a:r>
            <a:r>
              <a:rPr lang="en-US" sz="16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[GoogleTest / Catch2 / doctest]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transitions and invalid actions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and decision branches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 isolation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and approval escalation</a:t>
            </a:r>
            <a:endParaRPr lang="en-US" sz="1600" dirty="0"/>
          </a:p>
        </p:txBody>
      </p:sp>
      <p:sp>
        <p:nvSpPr>
          <p:cNvPr id="5" name="placeholder"/>
          <p:cNvSpPr/>
          <p:nvPr/>
        </p:nvSpPr>
        <p:spPr>
          <a:xfrm>
            <a:off x="5074920" y="1097280"/>
            <a:ext cx="3657600" cy="3291840"/>
          </a:xfrm>
          <a:prstGeom prst="rect">
            <a:avLst/>
          </a:prstGeom>
          <a:solidFill>
            <a:srgbClr val="16191F"/>
          </a:solidFill>
          <a:ln w="12700">
            <a:solidFill>
              <a:srgbClr val="FCC642"/>
            </a:solidFill>
            <a:prstDash val="dash"/>
          </a:ln>
        </p:spPr>
        <p:txBody>
          <a:bodyPr wrap="square" lIns="4445" tIns="4445" rIns="4445" bIns="444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Terminal screenshot: N tests, N passed 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1887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r>
              <a:rPr lang="en-US" sz="18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TIVIDY is a reusable workflow engine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r>
              <a:rPr lang="en-US" sz="18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runs two industry workflows, no engine changes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2D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r>
              <a:rPr lang="en-US" sz="18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shown ran in the live C++ application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A0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</a:t>
            </a:r>
            <a:r>
              <a:rPr lang="en-US" sz="1800" dirty="0">
                <a:solidFill>
                  <a:srgbClr val="FCC6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[repository link]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9"/>
          <p:cNvSpPr>
            <a:spLocks noGrp="1"/>
          </p:cNvSpPr>
          <p:nvPr>
            <p:ph type="title" idx="119" hasCustomPrompt="1"/>
          </p:nvPr>
        </p:nvSpPr>
        <p:spPr>
          <a:xfrm>
            <a:off x="868680" y="384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FF58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Thanks</a:t>
            </a:r>
            <a:r>
              <a:rPr lang="en-US" sz="2600" dirty="0">
                <a:solidFill>
                  <a:srgbClr val="E7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{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188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5C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'Do you have any questions?'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707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show member attribution 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3886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7E7E7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VIDY Code">
  <a:themeElements>
    <a:clrScheme name="TIVIDY Code">
      <a:dk1>
        <a:srgbClr val="16191F"/>
      </a:dk1>
      <a:lt1>
        <a:srgbClr val="FFFFFF"/>
      </a:lt1>
      <a:dk2>
        <a:srgbClr val="2E323B"/>
      </a:dk2>
      <a:lt2>
        <a:srgbClr val="E7E7E7"/>
      </a:lt2>
      <a:accent1>
        <a:srgbClr val="FF5858"/>
      </a:accent1>
      <a:accent2>
        <a:srgbClr val="A5CF27"/>
      </a:accent2>
      <a:accent3>
        <a:srgbClr val="DBA0DB"/>
      </a:accent3>
      <a:accent4>
        <a:srgbClr val="FCC642"/>
      </a:accent4>
      <a:accent5>
        <a:srgbClr val="72D9F0"/>
      </a:accent5>
      <a:accent6>
        <a:srgbClr val="707070"/>
      </a:accent6>
      <a:hlink>
        <a:srgbClr val="72D9F0"/>
      </a:hlink>
      <a:folHlink>
        <a:srgbClr val="DBA0DB"/>
      </a:folHlink>
    </a:clrScheme>
    <a:fontScheme name="TIVIDY Cod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1022</Words>
  <Application>Microsoft Office PowerPoint</Application>
  <PresentationFormat>On-screen Show (16:9)</PresentationFormat>
  <Paragraphs>164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TIVIDY Code</vt:lpstr>
      <vt:lpstr>TIVIDY {</vt:lpstr>
      <vt:lpstr>Why 'TIVIDY?' {</vt:lpstr>
      <vt:lpstr>How It 'Works' {</vt:lpstr>
      <vt:lpstr>Industry 1 { Aviation }</vt:lpstr>
      <vt:lpstr>Live Demo { Aviation }</vt:lpstr>
      <vt:lpstr>Industry 2 { Manufacturing }</vt:lpstr>
      <vt:lpstr>Live Demo { Manufacturing }</vt:lpstr>
      <vt:lpstr>One Engine, 'Two Industries' {</vt:lpstr>
      <vt:lpstr>Architecture 'GoF Patterns' {</vt:lpstr>
      <vt:lpstr>UML Design '&amp; Decisions' {</vt:lpstr>
      <vt:lpstr>Testing '&amp; Reliability' {</vt:lpstr>
      <vt:lpstr>Questions? {</vt:lpstr>
      <vt:lpstr>Thanks; {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TIVIDY: Workflow Management System</dc:title>
  <dc:subject>PptxGenJS Presentation</dc:subject>
  <dc:creator>PptxGenJS</dc:creator>
  <cp:lastModifiedBy>Shanna Reinecke</cp:lastModifiedBy>
  <cp:revision>3</cp:revision>
  <dcterms:created xsi:type="dcterms:W3CDTF">2026-10-26T17:08:23Z</dcterms:created>
  <dcterms:modified xsi:type="dcterms:W3CDTF">2026-10-26T18:18:43Z</dcterms:modified>
</cp:coreProperties>
</file>